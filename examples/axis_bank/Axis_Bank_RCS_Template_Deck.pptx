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6"/>
    <p:sldId id="263" r:id="rId17"/>
    <p:sldId id="264" r:id="rId18"/>
    <p:sldId id="265" r:id="rId19"/>
    <p:sldId id="266" r:id="rId8"/>
    <p:sldId id="267" r:id="rId7"/>
    <p:sldId id="268" r:id="rId6"/>
    <p:sldId id="269" r:id="rId5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 2026 (9 sends)</c:v>
                </c:pt>
              </c:strCache>
            </c:strRef>
          </c:tx>
          <c:spPr>
            <a:solidFill>
              <a:srgbClr val="5F004B"/>
            </a:solidFill>
          </c:spPr>
          <c:cat>
            <c:strRef>
              <c:f>Sheet1!$A$2:$A$5</c:f>
              <c:strCache>
                <c:ptCount val="4"/>
                <c:pt idx="0">
                  <c:v>Failed pre-send</c:v>
                </c:pt>
                <c:pt idx="1">
                  <c:v>Sent</c:v>
                </c:pt>
                <c:pt idx="2">
                  <c:v>Delivered</c:v>
                </c:pt>
                <c:pt idx="3">
                  <c:v>Read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31.0</c:v>
                </c:pt>
                <c:pt idx="1">
                  <c:v>69.0</c:v>
                </c:pt>
                <c:pt idx="2">
                  <c:v>63.5</c:v>
                </c:pt>
                <c:pt idx="3">
                  <c:v>23.1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2F30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C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70.0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A2A33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Click rate</c:v>
                </c:pt>
              </c:strCache>
            </c:strRef>
          </c:tx>
          <c:spPr>
            <a:solidFill>
              <a:srgbClr val="2F3043"/>
            </a:solidFill>
          </c:spPr>
          <c:dPt>
            <c:idx val="0"/>
            <c:spPr>
              <a:solidFill>
                <a:srgbClr val="5F004B"/>
              </a:solidFill>
            </c:spPr>
          </c:dPt>
          <c:dPt>
            <c:idx val="1"/>
            <c:spPr>
              <a:solidFill>
                <a:srgbClr val="5F004B"/>
              </a:solidFill>
            </c:spPr>
          </c:dPt>
          <c:dPt>
            <c:idx val="2"/>
            <c:spPr>
              <a:solidFill>
                <a:srgbClr val="5F004B"/>
              </a:solidFill>
            </c:spPr>
          </c:dPt>
          <c:dPt>
            <c:idx val="3"/>
            <c:spPr>
              <a:solidFill>
                <a:srgbClr val="5F004B"/>
              </a:solidFill>
            </c:spPr>
          </c:dPt>
          <c:dPt>
            <c:idx val="4"/>
            <c:spPr>
              <a:solidFill>
                <a:srgbClr val="5F004B"/>
              </a:solidFill>
            </c:spPr>
          </c:dPt>
          <c:dPt>
            <c:idx val="5"/>
            <c:spPr>
              <a:solidFill>
                <a:srgbClr val="5F004B"/>
              </a:solidFill>
            </c:spPr>
          </c:dPt>
          <c:dPt>
            <c:idx val="6"/>
            <c:spPr>
              <a:solidFill>
                <a:srgbClr val="5F004B"/>
              </a:solidFill>
            </c:spPr>
          </c:dPt>
          <c:dPt>
            <c:idx val="7"/>
            <c:spPr>
              <a:solidFill>
                <a:srgbClr val="5F004B"/>
              </a:solidFill>
            </c:spPr>
          </c:dPt>
          <c:dPt>
            <c:idx val="8"/>
            <c:spPr>
              <a:solidFill>
                <a:srgbClr val="5F004B"/>
              </a:solidFill>
            </c:spPr>
          </c:dPt>
          <c:cat>
            <c:strRef>
              <c:f>Sheet1!$A$2:$A$10</c:f>
              <c:strCache>
                <c:ptCount val="9"/>
                <c:pt idx="0">
                  <c:v>axisbank_1sept (3 Sep)</c:v>
                </c:pt>
                <c:pt idx="1">
                  <c:v>axisbank_1sept (10 Sep)</c:v>
                </c:pt>
                <c:pt idx="2">
                  <c:v>axisbank_1sept (24 Sep)</c:v>
                </c:pt>
                <c:pt idx="3">
                  <c:v>phonepe_offers_8sep (11 Sep)</c:v>
                </c:pt>
                <c:pt idx="4">
                  <c:v>phonepe_offers_8sep (23 Sep)</c:v>
                </c:pt>
                <c:pt idx="5">
                  <c:v>axis_rcs_campaign_16 (23 Sep)</c:v>
                </c:pt>
                <c:pt idx="6">
                  <c:v>axis_rcs_campaign_16 (24 Sep)</c:v>
                </c:pt>
                <c:pt idx="7">
                  <c:v>axis_rcs_campaign_16 (30 Sep)</c:v>
                </c:pt>
                <c:pt idx="8">
                  <c:v>axis_rcs_24mar_2 (3 Sep)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1.84</c:v>
                </c:pt>
                <c:pt idx="1">
                  <c:v>1.57</c:v>
                </c:pt>
                <c:pt idx="2">
                  <c:v>1.49</c:v>
                </c:pt>
                <c:pt idx="3">
                  <c:v>1.04</c:v>
                </c:pt>
                <c:pt idx="4">
                  <c:v>0.83</c:v>
                </c:pt>
                <c:pt idx="5">
                  <c:v>0.78</c:v>
                </c:pt>
                <c:pt idx="6">
                  <c:v>0.63</c:v>
                </c:pt>
                <c:pt idx="7">
                  <c:v>0.53</c:v>
                </c:pt>
                <c:pt idx="8">
                  <c:v>0.33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00" b="1">
                  <a:solidFill>
                    <a:srgbClr val="2F30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C6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.1712"/>
          <c:min val="0.0"/>
        </c:scaling>
        <c:delete/>
        <c:axPos val="b"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A2A33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risk Low is scored from the text alone (Checks fired: long_description (score 1.0).). Click rate 0.33% is shown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risk Low is scored from the text alone (Checks fired: long_description (score 1.0).). Click rate 1.64% over 3 sends is shown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risk Low is scored from the text alone (No text check fired (score 0.0).). Click rate 0.94% over 2 sends is shown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risk Low is scored from the text alone (No text check fired (score 0.0).). Click rate 0.67% over 3 sends is shown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png"/><Relationship Id="rId4" Type="http://schemas.openxmlformats.org/officeDocument/2006/relationships/image" Target="../media/image7.jpe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emf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6B10602-51AD-4B7A-B97D-577B598D1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colorful lines on a purple background&#10;&#10;AI-generated content may be incorrect.">
            <a:extLst>
              <a:ext uri="{FF2B5EF4-FFF2-40B4-BE49-F238E27FC236}">
                <a16:creationId xmlns:a16="http://schemas.microsoft.com/office/drawing/2014/main" id="{C1D84F5A-28BC-4596-A392-96FCE156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887A5F-5BDB-49A8-AB82-43897D0C5BD8}"/>
              </a:ext>
            </a:extLst>
          </p:cNvPr>
          <p:cNvSpPr txBox="1"/>
          <p:nvPr/>
        </p:nvSpPr>
        <p:spPr>
          <a:xfrm>
            <a:off x="511772" y="1667435"/>
            <a:ext cx="5425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000" dirty="0">
              <a:solidFill>
                <a:schemeClr val="bg1"/>
              </a:solidFill>
              <a:latin typeface="Vi Heavy" panose="00000A00000000000000" pitchFamily="50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EC61DD4-EC50-4F23-8BB6-B3754947C7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1772" y="1372135"/>
            <a:ext cx="6419290" cy="2550476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IN" dirty="0"/>
              <a:t>presentation title goes here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B135F0F-355C-4AE1-B19F-8B70C3B030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772" y="4153218"/>
            <a:ext cx="5927725" cy="133251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your text here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35E94-9273-4316-B1D5-4C9A488E9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265407"/>
            <a:ext cx="1896020" cy="8413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B61751-9330-46BC-95A3-CECCAC0EBD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2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6B10602-51AD-4B7A-B97D-577B598D1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635A833-6D08-4A36-9D3B-0C1A151496A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207" r="50000" b="12407"/>
          <a:stretch/>
        </p:blipFill>
        <p:spPr>
          <a:xfrm flipH="1">
            <a:off x="6392421" y="0"/>
            <a:ext cx="5799579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1ACD808-FABB-4277-BAA1-89C2F1D7DA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889" y="16422"/>
            <a:ext cx="1725702" cy="1725702"/>
          </a:xfrm>
          <a:prstGeom prst="rect">
            <a:avLst/>
          </a:prstGeom>
        </p:spPr>
      </p:pic>
      <p:sp>
        <p:nvSpPr>
          <p:cNvPr id="5" name="flSlideMaster.1_Title Slide 01Footer" descr="C2 – Vodafone Idea Internal"/>
          <p:cNvSpPr txBox="1"/>
          <p:nvPr/>
        </p:nvSpPr>
        <p:spPr>
          <a:xfrm>
            <a:off x="0" y="6515100"/>
            <a:ext cx="12192000" cy="246221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l"/>
            <a:r>
              <a:rPr lang="en-US" sz="1000" b="0" i="0" u="none" baseline="0">
                <a:solidFill>
                  <a:srgbClr val="666666"/>
                </a:solidFill>
                <a:latin typeface="vodafone rg" panose="020B0606080202020204"/>
              </a:rPr>
              <a:t>C2 – Vodafone Idea Internal</a:t>
            </a:r>
          </a:p>
        </p:txBody>
      </p:sp>
      <p:pic>
        <p:nvPicPr>
          <p:cNvPr id="10" name="Picture 9" descr="A colorful lines on a dark background&#10;&#10;AI-generated content may be incorrect.">
            <a:extLst>
              <a:ext uri="{FF2B5EF4-FFF2-40B4-BE49-F238E27FC236}">
                <a16:creationId xmlns:a16="http://schemas.microsoft.com/office/drawing/2014/main" id="{43C878D7-08BB-48AA-8399-27D9F5478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FFA047E-3C17-4D69-910D-5E3F1400BC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1772" y="1372135"/>
            <a:ext cx="6419290" cy="2550476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IN" dirty="0"/>
              <a:t>presentation title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9C6168A-6C3E-4517-9B1F-E59AB2F687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772" y="4153218"/>
            <a:ext cx="5927725" cy="133251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your text here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DADFCF-6D75-4209-8948-1EE8F141B4F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273618"/>
            <a:ext cx="1896020" cy="841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84EB15-CFE5-4567-B9C2-55E18E76FB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7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2DAF03-BF48-4926-8344-41B3E7B4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218894" cy="68878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474662"/>
            <a:ext cx="9686925" cy="70961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452282"/>
            <a:ext cx="11412538" cy="420874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7687469" y="60182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C7791A-162E-4D65-89D9-9FB2BBD763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637" y="408807"/>
            <a:ext cx="1896020" cy="841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2F82C0-EEB3-43F1-A124-6ACCBF2AC4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5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E2BA173-CEE1-4B1B-8D5A-9B8547D5F14D}"/>
              </a:ext>
            </a:extLst>
          </p:cNvPr>
          <p:cNvSpPr/>
          <p:nvPr/>
        </p:nvSpPr>
        <p:spPr>
          <a:xfrm>
            <a:off x="1" y="-629"/>
            <a:ext cx="12196630" cy="68592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474662"/>
            <a:ext cx="9712325" cy="70961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452282"/>
            <a:ext cx="11412538" cy="420874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7687469" y="60182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8B7CCE-D4F2-4271-A579-EF0D1650C1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300" y="421507"/>
            <a:ext cx="1896020" cy="8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1D3B8D-A2B8-45FB-9454-EFDB79C901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6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&amp; Table " preserve="1">
  <p:cSld name="1_Title &amp; Table 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BF5811-E5E4-4004-B532-D1FD86B51D80}"/>
              </a:ext>
            </a:extLst>
          </p:cNvPr>
          <p:cNvGrpSpPr/>
          <p:nvPr/>
        </p:nvGrpSpPr>
        <p:grpSpPr>
          <a:xfrm>
            <a:off x="5039" y="-1258"/>
            <a:ext cx="12186961" cy="6859258"/>
            <a:chOff x="-3778" y="-629"/>
            <a:chExt cx="12186961" cy="6859258"/>
          </a:xfrm>
        </p:grpSpPr>
        <p:pic>
          <p:nvPicPr>
            <p:cNvPr id="7" name="Picture 6" descr="A yellow text with a white line going up&#10;&#10;AI-generated content may be incorrect.">
              <a:extLst>
                <a:ext uri="{FF2B5EF4-FFF2-40B4-BE49-F238E27FC236}">
                  <a16:creationId xmlns:a16="http://schemas.microsoft.com/office/drawing/2014/main" id="{7C154A98-0121-4C60-9A07-D982A6023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483" y="165579"/>
              <a:ext cx="1723731" cy="820702"/>
            </a:xfrm>
            <a:prstGeom prst="rect">
              <a:avLst/>
            </a:prstGeom>
          </p:spPr>
        </p:pic>
        <p:pic>
          <p:nvPicPr>
            <p:cNvPr id="8" name="Picture 7" descr="A white and yellow text on a black background&#10;&#10;AI-generated content may be incorrect.">
              <a:extLst>
                <a:ext uri="{FF2B5EF4-FFF2-40B4-BE49-F238E27FC236}">
                  <a16:creationId xmlns:a16="http://schemas.microsoft.com/office/drawing/2014/main" id="{F66B88FA-2816-46AC-B67C-F014DD784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69" t="20620" r="21094" b="19476"/>
            <a:stretch>
              <a:fillRect/>
            </a:stretch>
          </p:blipFill>
          <p:spPr>
            <a:xfrm>
              <a:off x="10489741" y="163317"/>
              <a:ext cx="1590841" cy="9464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93497A-40DC-4194-89C1-13404B60D114}"/>
                </a:ext>
              </a:extLst>
            </p:cNvPr>
            <p:cNvSpPr/>
            <p:nvPr/>
          </p:nvSpPr>
          <p:spPr>
            <a:xfrm>
              <a:off x="-3778" y="-629"/>
              <a:ext cx="12186961" cy="68592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371475" y="1020593"/>
            <a:ext cx="11412539" cy="70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083B6D5-0065-41B3-890A-C4F83CC0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2296"/>
            <a:ext cx="11412538" cy="3818729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EED1B26-211B-4576-B3B4-CB5F1296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59438" y="6018213"/>
            <a:ext cx="8731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B1ED15-A46E-4C1E-83DD-7183355865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868E9C-3097-42EF-AF17-B0D5E0677B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6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&amp; Table " preserve="1">
  <p:cSld name="2_Title &amp; Table 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59FC5D9-6A39-4564-BCF7-3B1101076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7841"/>
          </a:xfrm>
          <a:prstGeom prst="rect">
            <a:avLst/>
          </a:prstGeom>
        </p:spPr>
      </p:pic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371475" y="1020593"/>
            <a:ext cx="11412539" cy="70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8"/>
          <p:cNvSpPr txBox="1">
            <a:spLocks noGrp="1"/>
          </p:cNvSpPr>
          <p:nvPr>
            <p:ph type="sldNum" idx="12"/>
          </p:nvPr>
        </p:nvSpPr>
        <p:spPr>
          <a:xfrm>
            <a:off x="5658966" y="6018227"/>
            <a:ext cx="8740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3C896A-1AF8-4999-B1D1-1A0E8B57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3556"/>
            <a:ext cx="11412538" cy="3817469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21DB6C-E8B0-40F8-A35B-E6B3CD29E3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B6389F-A361-43BB-8249-88F102AD92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4283577-2908-411E-A039-F77CD91CA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7738" y="1658374"/>
            <a:ext cx="10296525" cy="2715898"/>
          </a:xfrm>
        </p:spPr>
        <p:txBody>
          <a:bodyPr anchor="ctr">
            <a:noAutofit/>
          </a:bodyPr>
          <a:lstStyle>
            <a:lvl1pPr algn="ctr">
              <a:defRPr sz="8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IN"/>
              <a:t>thank you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A3A6C44-1E60-4AA0-944F-C492A60E4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5" y="601822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238215-5C65-48C8-9961-9D720CA1C7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58966" y="6018226"/>
            <a:ext cx="8740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lSlideMaster.1_Thank You Footer" descr="C2 – Vodafone Idea Internal"/>
          <p:cNvSpPr txBox="1"/>
          <p:nvPr/>
        </p:nvSpPr>
        <p:spPr>
          <a:xfrm>
            <a:off x="0" y="6515100"/>
            <a:ext cx="12192000" cy="246221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l"/>
            <a:r>
              <a:rPr lang="en-US" sz="1000" b="0" i="0" u="none" baseline="0">
                <a:solidFill>
                  <a:srgbClr val="666666"/>
                </a:solidFill>
                <a:latin typeface="vodafone rg" panose="020B0606080202020204"/>
              </a:rPr>
              <a:t>C2 – Vodafone Idea Internal</a:t>
            </a:r>
          </a:p>
        </p:txBody>
      </p:sp>
      <p:pic>
        <p:nvPicPr>
          <p:cNvPr id="8" name="Picture 7" descr="A colorful lines on a purple background&#10;&#10;AI-generated content may be incorrect.">
            <a:extLst>
              <a:ext uri="{FF2B5EF4-FFF2-40B4-BE49-F238E27FC236}">
                <a16:creationId xmlns:a16="http://schemas.microsoft.com/office/drawing/2014/main" id="{107A328B-4F92-4D8B-A30F-2CC8C451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702132-EDA1-468F-8F8F-899906CD999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71475" y="1372271"/>
            <a:ext cx="6419290" cy="255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9pPr>
          </a:lstStyle>
          <a:p>
            <a:r>
              <a:rPr lang="en-IN" dirty="0"/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E1DE6F-0B59-41B7-A819-31CE261D7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265475"/>
            <a:ext cx="1896020" cy="8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D69F8F-1879-44BE-8528-2A43E8AA63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4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277414"/>
            <a:ext cx="9674225" cy="70961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204542"/>
            <a:ext cx="11412538" cy="445648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tx2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tx2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tx2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680A2E-B9DA-45C9-B3EB-7D67D3C79B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6DD9F7-E9FD-40A0-A114-656619327E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379413"/>
            <a:ext cx="9483725" cy="7096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71475" y="1196975"/>
            <a:ext cx="11412538" cy="365125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439C9-762B-420C-AAC1-863243ECFD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98E4F3-9E49-43F3-B905-95FB6432E5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8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/>
          <p:cNvSpPr/>
          <p:nvPr/>
        </p:nvSpPr>
        <p:spPr>
          <a:xfrm>
            <a:off x="371475" y="1376363"/>
            <a:ext cx="3286125" cy="781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19" name="Rectangle 6"/>
          <p:cNvSpPr/>
          <p:nvPr/>
        </p:nvSpPr>
        <p:spPr>
          <a:xfrm>
            <a:off x="371475" y="2252663"/>
            <a:ext cx="3286125" cy="781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21" name="Rectangle 7"/>
          <p:cNvSpPr/>
          <p:nvPr/>
        </p:nvSpPr>
        <p:spPr>
          <a:xfrm>
            <a:off x="371475" y="3127375"/>
            <a:ext cx="3286125" cy="7826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23" name="Rectangle 8"/>
          <p:cNvSpPr/>
          <p:nvPr/>
        </p:nvSpPr>
        <p:spPr>
          <a:xfrm>
            <a:off x="371475" y="4003675"/>
            <a:ext cx="3286125" cy="781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25" name="Rectangle 9"/>
          <p:cNvSpPr/>
          <p:nvPr/>
        </p:nvSpPr>
        <p:spPr>
          <a:xfrm>
            <a:off x="371475" y="4879975"/>
            <a:ext cx="3286125" cy="781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>
              <a:solidFill>
                <a:schemeClr val="bg1"/>
              </a:solidFill>
            </a:endParaRPr>
          </a:p>
        </p:txBody>
      </p:sp>
      <p:sp>
        <p:nvSpPr>
          <p:cNvPr id="27" name="Rectangle 17"/>
          <p:cNvSpPr/>
          <p:nvPr/>
        </p:nvSpPr>
        <p:spPr>
          <a:xfrm>
            <a:off x="3763963" y="1376363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9" name="Rectangle 20"/>
          <p:cNvSpPr/>
          <p:nvPr/>
        </p:nvSpPr>
        <p:spPr>
          <a:xfrm>
            <a:off x="3763963" y="2252663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0" name="Rectangle 22"/>
          <p:cNvSpPr/>
          <p:nvPr/>
        </p:nvSpPr>
        <p:spPr>
          <a:xfrm>
            <a:off x="3763963" y="3130550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1" name="Rectangle 24"/>
          <p:cNvSpPr/>
          <p:nvPr/>
        </p:nvSpPr>
        <p:spPr>
          <a:xfrm>
            <a:off x="3763963" y="4003675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2" name="Rectangle 26"/>
          <p:cNvSpPr/>
          <p:nvPr/>
        </p:nvSpPr>
        <p:spPr>
          <a:xfrm>
            <a:off x="3763963" y="4879975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68313" y="1445428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68313" y="2322045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68313" y="3195872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68313" y="4072489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8313" y="4949504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917950" y="1445429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18"/>
          </p:nvPr>
        </p:nvSpPr>
        <p:spPr>
          <a:xfrm>
            <a:off x="3917950" y="2321249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3917950" y="3199738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0"/>
          </p:nvPr>
        </p:nvSpPr>
        <p:spPr>
          <a:xfrm>
            <a:off x="3917950" y="4072888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3917950" y="4948708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Slide Number Placeholder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7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ayout 2x1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3838" y="1638300"/>
            <a:ext cx="5331692" cy="3959225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buSzPct val="80000"/>
              <a:defRPr sz="2000">
                <a:solidFill>
                  <a:schemeClr val="tx2"/>
                </a:solidFill>
              </a:defRPr>
            </a:lvl1pPr>
            <a:lvl2pPr>
              <a:buClr>
                <a:schemeClr val="accent1"/>
              </a:buClr>
              <a:buSzPct val="80000"/>
              <a:defRPr sz="1800">
                <a:solidFill>
                  <a:schemeClr val="tx2"/>
                </a:solidFill>
              </a:defRPr>
            </a:lvl2pPr>
            <a:lvl3pPr>
              <a:buClr>
                <a:schemeClr val="accent1"/>
              </a:buClr>
              <a:buSzPct val="80000"/>
              <a:defRPr sz="1600">
                <a:solidFill>
                  <a:schemeClr val="tx2"/>
                </a:solidFill>
              </a:defRPr>
            </a:lvl3pPr>
            <a:lvl4pPr>
              <a:buClr>
                <a:schemeClr val="accent1"/>
              </a:buClr>
              <a:buSzPct val="80000"/>
              <a:defRPr sz="1050">
                <a:solidFill>
                  <a:schemeClr val="tx2"/>
                </a:solidFill>
              </a:defRPr>
            </a:lvl4pPr>
            <a:lvl5pPr>
              <a:buClr>
                <a:schemeClr val="accent1"/>
              </a:buClr>
              <a:buSzPct val="80000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52413" y="1647341"/>
            <a:ext cx="5331600" cy="3950184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IN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76FEF-B604-4F56-B048-70FD0B7E2822}"/>
              </a:ext>
            </a:extLst>
          </p:cNvPr>
          <p:cNvSpPr/>
          <p:nvPr/>
        </p:nvSpPr>
        <p:spPr>
          <a:xfrm>
            <a:off x="371475" y="1376363"/>
            <a:ext cx="5331692" cy="19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81E5B-1B61-45BA-A5BA-711D083D4C6F}"/>
              </a:ext>
            </a:extLst>
          </p:cNvPr>
          <p:cNvSpPr/>
          <p:nvPr/>
        </p:nvSpPr>
        <p:spPr>
          <a:xfrm>
            <a:off x="6452413" y="1376363"/>
            <a:ext cx="5331692" cy="198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E56F0C-C89C-4A44-8828-6372065D6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C6EB3B-6202-4FD6-A094-95E88B2BAD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19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3433" y="1078255"/>
            <a:ext cx="11412538" cy="70961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949824"/>
            <a:ext cx="11412538" cy="3711202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tx2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tx2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tx2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51DB8-7212-4A32-908C-4815CFCC3A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D25694-123C-45E4-AD6B-E7503CEE65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18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609DEC6-C1ED-4510-9E8A-710ABCE5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59438" y="6018213"/>
            <a:ext cx="873125" cy="365125"/>
          </a:xfrm>
        </p:spPr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98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371475" y="379413"/>
            <a:ext cx="9585325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71475" y="1376363"/>
            <a:ext cx="11412538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59438" y="6018213"/>
            <a:ext cx="87312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chemeClr val="tx2"/>
                </a:solidFill>
                <a:latin typeface="Vi" panose="00000500000000000000" pitchFamily="50" charset="0"/>
              </a:defRPr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562697-C9E8-4A34-AFB8-2E91755B02F4}"/>
              </a:ext>
            </a:extLst>
          </p:cNvPr>
          <p:cNvSpPr/>
          <p:nvPr userDrawn="1"/>
        </p:nvSpPr>
        <p:spPr>
          <a:xfrm>
            <a:off x="10972800" y="5794037"/>
            <a:ext cx="1026409" cy="843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9DD9A-2CE9-4B0E-975F-FA320D069B8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213C5-F508-478D-B43E-B164066AA54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1" y="6034901"/>
            <a:ext cx="1917700" cy="362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F891E2-5A05-5C4F-B288-E522A35331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48288" y="63500"/>
            <a:ext cx="1520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Vodafone Idea Confidential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57684-A429-D897-06F3-5A7AB41E67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5672138" y="33528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197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39" r:id="rId3"/>
    <p:sldLayoutId id="2147483814" r:id="rId4"/>
    <p:sldLayoutId id="2147483770" r:id="rId5"/>
    <p:sldLayoutId id="2147483815" r:id="rId6"/>
    <p:sldLayoutId id="2147483812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13" r:id="rId13"/>
    <p:sldLayoutId id="2147483821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9pPr>
    </p:titleStyle>
    <p:bodyStyle>
      <a:lvl1pPr marL="228600" indent="-22860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SzPct val="100000"/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RCS Template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AXIS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4892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WHAT WE ANALYSED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9 sends of 4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2926080"/>
                <a:gridCol w="914400"/>
                <a:gridCol w="1097280"/>
                <a:gridCol w="1554480"/>
                <a:gridCol w="1280160"/>
                <a:gridCol w="1097280"/>
                <a:gridCol w="1737360"/>
              </a:tblGrid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Template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GoogleID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Messages Submitted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DeliveryRate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ReadRate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P2AResponseRate (click rate)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axis_rcs_24mar_2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3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1,737,800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94.42%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33.20%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0.33%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axisbank_1sept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3 Sep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1,366,206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90.58%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33.14%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1.84%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axisbank_1sept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10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1,364,199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90.06%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31.65%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1.57%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phonepe_offers_8sep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11 Sep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1,605,325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94.41%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37.72%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1.04%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axis_rcs_campaign_16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23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3,130,979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90.62%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38.82%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0.78%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phonepe_offers_8sep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23 Sep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1,604,771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94.15%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38.94%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0.83%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axisbank_1sept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24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1,368,233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89.71%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33.35%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1.49%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axis_rcs_campaign_16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24 Sep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966,811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93.12%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37.88%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0.63%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axis_rcs_campaign_16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30 Sep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A2A33"/>
                          </a:solidFill>
                        </a:rPr>
                        <a:t>yvyv0sd7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2,360,286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92.66%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A2A33"/>
                          </a:solidFill>
                        </a:rPr>
                        <a:t>36.77%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A2A33"/>
                          </a:solidFill>
                        </a:rPr>
                        <a:t>0.53%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F3043"/>
                </a:solidFill>
              </a:rPr>
              <a:t>Column names are the sheet's own.  </a:t>
            </a:r>
            <a:r>
              <a:rPr sz="1100" b="0" i="0">
                <a:solidFill>
                  <a:srgbClr val="2A2A33"/>
                </a:solidFill>
              </a:rPr>
              <a:t>DeliveryRate = delivered ÷ sent. ReadRate = read ÷ delivered. P2AResponseRate = click rate (responses ÷ read).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F3043"/>
                </a:solidFill>
              </a:rPr>
              <a:t>Each send has its own audience and timing.  </a:t>
            </a:r>
            <a:r>
              <a:rPr sz="1100" b="0" i="0">
                <a:solidFill>
                  <a:srgbClr val="2A2A33"/>
                </a:solidFill>
              </a:rPr>
              <a:t>Audience, day of week and frequency cannot be separated from the creative, so findings are directional.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export. * = our calculation from the sheet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THE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Where messages are lost along the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Share of Messages Submitted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64592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06640" y="1325880"/>
            <a:ext cx="4297680" cy="4572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463040"/>
            <a:ext cx="3931920" cy="438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EE2737"/>
                </a:solidFill>
              </a:rPr>
              <a:t>Lost before sending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A2A33"/>
                </a:solidFill>
              </a:rPr>
              <a:t>31.0% of Messages Submitted failed before sending in September 2026. This happens before the platform sends, so it is separate from template content.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EE2737"/>
                </a:solidFill>
              </a:rPr>
              <a:t>After sending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A2A33"/>
                </a:solidFill>
              </a:rPr>
              <a:t>DeliveryRate is 92.07% of Messages Sent and the expiry rate* is 7.7%.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EE2737"/>
                </a:solidFill>
              </a:rPr>
              <a:t>Ask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A2A33"/>
                </a:solidFill>
              </a:rPr>
              <a:t>Failure reason codes by GoogleID and template.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export. * = our calculation from the sheet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EVERY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Click rate by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Click rate (P2AResponseRate)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645920"/>
          <a:ext cx="704088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0" y="1325880"/>
            <a:ext cx="4023360" cy="45720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463040"/>
            <a:ext cx="3657600" cy="4389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EE2737"/>
                </a:solidFill>
              </a:rPr>
              <a:t>Highest click rates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A2A33"/>
                </a:solidFill>
              </a:rPr>
              <a:t>axisbank_1sept (1.64%), phonepe_offers_8sep (0.94%). Text strengths: A concrete number, One clear action.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EE2737"/>
                </a:solidFill>
              </a:rPr>
              <a:t>Lowest click rates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A2A33"/>
                </a:solidFill>
              </a:rPr>
              <a:t>axis_rcs_campaign_16 (0.67%), axis_rcs_24mar_2 (0.33%). Text flags: Long description.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EE2737"/>
                </a:solidFill>
              </a:rPr>
              <a:t>Text score vs result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2A2A33"/>
                </a:solidFill>
              </a:rPr>
              <a:t>Scored from the text alone, the content score ordered 2 of 4 comparable template pairs the same way as click rate (2 the other way, 2 tied).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export. * = our calculation from the sheet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Where each hypothesis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5943600"/>
                <a:gridCol w="228600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Hypothesis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the data shows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2F304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H1  Delivery or read differs between templates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DeliveryRate 89.71–94.42% and ReadRate 31.65–38.94% across the templates.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2A33"/>
                          </a:solidFill>
                        </a:rPr>
                        <a:t>Plausible, needs data</a:t>
                      </a:r>
                    </a:p>
                  </a:txBody>
                  <a:tcPr marL="73152" marR="73152" marT="27432" marB="27432" anchor="ctr">
                    <a:solidFill>
                      <a:srgbClr val="FFC60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H2  Offer specificity and content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Scored from the text alone, the content score ordered 2 of 4 comparable template pairs the same way as click rate (2 the other way, 2 tied). Visits and orders after the click are not visible in the sheet.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2A33"/>
                          </a:solidFill>
                        </a:rPr>
                        <a:t>Plausible, needs data</a:t>
                      </a:r>
                    </a:p>
                  </a:txBody>
                  <a:tcPr marL="73152" marR="73152" marT="27432" marB="27432" anchor="ctr">
                    <a:solidFill>
                      <a:srgbClr val="FFC60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H3  Scale dilution and audience mix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The sheet holds no audience data.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2A33"/>
                          </a:solidFill>
                        </a:rPr>
                        <a:t>Unknown</a:t>
                      </a:r>
                    </a:p>
                  </a:txBody>
                  <a:tcPr marL="73152" marR="73152" marT="27432" marB="27432" anchor="ctr">
                    <a:solidFill>
                      <a:srgbClr val="D9D9E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H4  Pre-send failures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31.0% of Messages Submitted failed before sending in September 2026.</a:t>
                      </a:r>
                    </a:p>
                  </a:txBody>
                  <a:tcPr marL="73152" marR="73152" marT="27432" marB="27432" anchor="ctr">
                    <a:solidFill>
                      <a:srgbClr val="F2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2A33"/>
                          </a:solidFill>
                        </a:rPr>
                        <a:t>Open, high priority</a:t>
                      </a:r>
                    </a:p>
                  </a:txBody>
                  <a:tcPr marL="73152" marR="73152" marT="27432" marB="27432" anchor="ctr">
                    <a:solidFill>
                      <a:srgbClr val="FFC60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H5  Send time and offer timing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A2A33"/>
                          </a:solidFill>
                        </a:rPr>
                        <a:t>Expiry rate* is 7.7% of Messages Sent.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A2A33"/>
                          </a:solidFill>
                        </a:rPr>
                        <a:t>Plausible, needs data</a:t>
                      </a:r>
                    </a:p>
                  </a:txBody>
                  <a:tcPr marL="73152" marR="73152" marT="27432" marB="27432" anchor="ctr">
                    <a:solidFill>
                      <a:srgbClr val="FFC6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1">
                <a:solidFill>
                  <a:srgbClr val="6B6B76"/>
                </a:solidFill>
              </a:rPr>
              <a:t>Audience, send time and post-click data (visits, orders) are not available, so findings are directional.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export. * = our calculation from the sheet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Template in Focus  |  axis_rcs_24mar_2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1">
                <a:solidFill>
                  <a:srgbClr val="6B6B76"/>
                </a:solidFill>
              </a:rPr>
              <a:t>Template name: axis_rcs_24mar_2   |   Sent 3 Sep 2026   |   GoogleID yvyv0sd7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xis_rcs_24mar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66928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5669280" cy="2834640"/>
          </a:xfrm>
          <a:prstGeom prst="rect">
            <a:avLst/>
          </a:prstGeom>
          <a:noFill/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94.42%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DeliveryRate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33.20%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ReadRate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0.33%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P2AResponseRate (click rate)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600200"/>
            <a:ext cx="3931920" cy="4343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7556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E2737"/>
                </a:solidFill>
              </a:rPr>
              <a:t>CURRENT LIVE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031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3172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Open Axis Bank Digital Savings Account in just 2 clicks.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6324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918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2A2A33"/>
                </a:solidFill>
              </a:rPr>
              <a:t>Dear Customer,
Thousands have already upgraded to smarter banking! What are you waiting for?
Open an Axis Bank Digital Savings Account in 7 minutes and enjoy these exclusive perks:
[icon] 1% cashback* on Axis Bank’s credit card bill payment
[icon] Flat 25% cashback* on Flipkart &amp; AJIO via 𝐆𝐑𝐀𝐁 𝐃𝐄𝐀𝐋𝐒
[icon] Complimentary BookMyShow ticket* every month
… (full text in the report)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1663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E2737"/>
                </a:solidFill>
              </a:rPr>
              <a:t>Open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export; creative as supplied. Emojis may appear as placeholders.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01  ·  axis_rcs_24mar_2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What Works and What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9903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A concrete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A price, amount, percentage or quantity appears in the text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6207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2.  One clear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text asks for one thing, the button.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99032"/>
            <a:ext cx="54864" cy="12344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Long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description runs past the point where a reader will finish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2F3043"/>
                </a:solidFill>
              </a:rPr>
              <a:t>Click rate 0.33%: rank 4 of 4 in September 2026; ReadRate 33.20%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Template in Focus  |  axisbank_1sept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1">
                <a:solidFill>
                  <a:srgbClr val="6B6B76"/>
                </a:solidFill>
              </a:rPr>
              <a:t>Template name: axisbank_1sept   |   3 sends, 3 Sep to 24 Sep   |   GoogleID yvyv0sd7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xisbank_1s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66928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5669280" cy="2834640"/>
          </a:xfrm>
          <a:prstGeom prst="rect">
            <a:avLst/>
          </a:prstGeom>
          <a:noFill/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90.12%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DeliveryRate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32.72%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ReadRate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1.64%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P2AResponseRate (click rate)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600200"/>
            <a:ext cx="3931920" cy="4343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7556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E2737"/>
                </a:solidFill>
              </a:rPr>
              <a:t>CURRENT LIVE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031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3172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Open Axis Bank Digital Savings Account in just 2 clicks.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6324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918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2A2A33"/>
                </a:solidFill>
              </a:rPr>
              <a:t>Dear Customer,
Complete your Axis Bank Digital Savings Account application now and enjoy exclusive benefits:
[icon] Flat 25% cashback* [icon] on Flipkart &amp; Ajio every time you shop
[icon] Buy one get one offer* on BookMyShow every month
[icon] 1% cashback* on online spends
[icon] Instant e-debit card
[icon] Access to 250+ banking services
*T&amp;C apply. Offers applicable via 𝙂𝙍𝘼𝘽 𝘿𝙀𝘼𝙇𝙎.
… (full text in the report)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1663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E2737"/>
                </a:solidFill>
              </a:rPr>
              <a:t>Open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export; creative as supplied. Emojis may appear as placeholders.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02  ·  axisbank_1sept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What Works and What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9903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A concrete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A price, amount, percentage or quantity appears in the text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6207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2.  One clear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text asks for one thing, the button.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99032"/>
            <a:ext cx="54864" cy="12344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Long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description runs past the point where a reader will finish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2F3043"/>
                </a:solidFill>
              </a:rPr>
              <a:t>Click rate 1.64% over 3 sends: rank 1 of 4 in September 2026; ReadRate 32.72%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Template in Focus  |  phonepe_offers_8sep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1">
                <a:solidFill>
                  <a:srgbClr val="6B6B76"/>
                </a:solidFill>
              </a:rPr>
              <a:t>Template name: phonepe_offers_8sep   |   2 sends, 11 Sep to 23 Sep   |   GoogleID yvyv0sd7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onepe_offers_8s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66928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5669280" cy="2834640"/>
          </a:xfrm>
          <a:prstGeom prst="rect">
            <a:avLst/>
          </a:prstGeom>
          <a:noFill/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94.28%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DeliveryRate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38.34%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ReadRate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0.94%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P2AResponseRate (click rate)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600200"/>
            <a:ext cx="3931920" cy="4343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7556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E2737"/>
                </a:solidFill>
              </a:rPr>
              <a:t>CURRENT LIVE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031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3172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Grab 𝐈𝐍𝐑 𝟏𝟎𝟎 𝐜𝐚𝐬𝐡𝐛𝐚𝐜𝐤 on UPI payments!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6324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918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2A2A33"/>
                </a:solidFill>
              </a:rPr>
              <a:t>Make your first two UPI payments via PhonePe with Axis Bank RuPay Credit Cards and earn flat INR 50 cashback per transaction.
Offer valid till: 30th Sep 2026.
*T&amp;C apply.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1663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E2737"/>
                </a:solidFill>
              </a:rPr>
              <a:t>Know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export; creative as supplied. Emojis may appear as placeholders.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03  ·  phonepe_offers_8sep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What Works and What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9903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A concrete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A price, amount, percentage or quantity appears in the text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6207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2.  One clear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text asks for one thing, the button.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99032"/>
            <a:ext cx="54864" cy="12344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No text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None of the text checks fired for this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2F3043"/>
                </a:solidFill>
              </a:rPr>
              <a:t>Click rate 0.94% over 2 sends: rank 2 of 4 in September 2026; ReadRate 38.34%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Template in Focus  |  axis_rcs_campaign_16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1">
                <a:solidFill>
                  <a:srgbClr val="6B6B76"/>
                </a:solidFill>
              </a:rPr>
              <a:t>Template name: axis_rcs_campaign_16   |   3 sends, 23 Sep to 30 Sep   |   GoogleID yvyv0sd7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xis_rcs_campaign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66928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600200"/>
            <a:ext cx="5669280" cy="2834640"/>
          </a:xfrm>
          <a:prstGeom prst="rect">
            <a:avLst/>
          </a:prstGeom>
          <a:noFill/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91.74%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DeliveryRate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2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37.93%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ReadRate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4617720"/>
            <a:ext cx="2231136" cy="132588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4617720"/>
            <a:ext cx="54864" cy="132588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9824" y="4672583"/>
            <a:ext cx="2011680" cy="7292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F3043"/>
                </a:solidFill>
              </a:rPr>
              <a:t>0.67%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5386730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6B6B76"/>
                </a:solidFill>
              </a:rPr>
              <a:t>P2AResponseRate (click rate)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600200"/>
            <a:ext cx="3931920" cy="434340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7556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EE2737"/>
                </a:solidFill>
              </a:rPr>
              <a:t>CURRENT LIVE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031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3172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Unlimited Health Protection at [icon]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6324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Card Description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9184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2A2A33"/>
                </a:solidFill>
              </a:rPr>
              <a:t>Unlock Unlimited Health cover with ReAssure 3.0 by Niva Bupa Health Insurance for a worry-free tomorrow. Get insured today!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16636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6B6B76"/>
                </a:solidFill>
              </a:rPr>
              <a:t>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EE2737"/>
                </a:solidFill>
              </a:rPr>
              <a:t>Buy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partner portal template export; creative as supplied. Emojis may appear as placeholders.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TEMPLATE 04  ·  axis_rcs_campaign_16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What Works and What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9903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A concrete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A price, amount, percentage or quantity appears in the text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6207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2.  Short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whole card text is brief enough to read in one glance.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25112"/>
            <a:ext cx="54864" cy="123444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297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3.  One clear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8172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text asks for one thing, the button.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99032"/>
            <a:ext cx="54864" cy="12344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1.  No text flags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75564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None of the text checks fired for this template.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 i="0">
                <a:solidFill>
                  <a:srgbClr val="2F3043"/>
                </a:solidFill>
              </a:rPr>
              <a:t>Click rate 0.67% over 3 sends: rank 3 of 4 in September 2026; ReadRate 37.93%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Changes to make in the next sends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11880" cy="214884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21488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Add a per-template tracking tag to the button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The sheet shows clicks but not what happens after; tags tie each template to visits and orders.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4820" y="1371600"/>
            <a:ext cx="3611880" cy="214884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820" y="1371600"/>
            <a:ext cx="54864" cy="21488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3420" y="1554480"/>
            <a:ext cx="457200" cy="457200"/>
          </a:xfrm>
          <a:prstGeom prst="ellipse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342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7780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Diagnose pre-send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3420" y="22860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31.0% of Messages Submitted failed before sending.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611880" cy="214884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54864" cy="21488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55448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Use a formal, reassuring tone and a low-commitment 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Vi guardrails G2 and G5 for BFSI; check the current CTAs against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3611880" cy="214884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54864" cy="214884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3931920"/>
            <a:ext cx="457200" cy="457200"/>
          </a:xfrm>
          <a:prstGeom prst="ellipse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931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2F3043"/>
                </a:solidFill>
              </a:rPr>
              <a:t>Cap frequency, rotate creatives and scale in 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634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0" i="0">
                <a:solidFill>
                  <a:srgbClr val="2A2A33"/>
                </a:solidFill>
              </a:rPr>
              <a:t>Vi guardrail G6; frequency and audience data are needed to see whether it applies.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template review; partner portal template export.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EE2737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i="0">
                <a:solidFill>
                  <a:srgbClr val="2F3043"/>
                </a:solidFill>
              </a:rPr>
              <a:t>One test and 3 data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27432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297680" cy="4572000"/>
          </a:xfrm>
          <a:prstGeom prst="rect">
            <a:avLst/>
          </a:prstGeom>
          <a:solidFill>
            <a:srgbClr val="2F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Test in the next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4592" indent="-164592">
              <a:spcAft>
                <a:spcPts val="1000"/>
              </a:spcAft>
              <a:buChar char="•"/>
            </a:pPr>
            <a:r>
              <a:rPr sz="1350" b="0" i="0">
                <a:solidFill>
                  <a:srgbClr val="FFFFFF"/>
                </a:solidFill>
              </a:rPr>
              <a:t>A specific offer against the current text, same audience and send time for both arms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50" b="0" i="0">
                <a:solidFill>
                  <a:srgbClr val="FFFFFF"/>
                </a:solidFill>
              </a:rPr>
              <a:t>A tracking tag on every button URL so visits and orders are reported per template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350" b="0" i="0">
                <a:solidFill>
                  <a:srgbClr val="FFFFFF"/>
                </a:solidFill>
              </a:rPr>
              <a:t>Vi reviews the next templates at least a week before launch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71600"/>
            <a:ext cx="6675120" cy="141732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371600"/>
            <a:ext cx="64008" cy="141732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4630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Axis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2A2A33"/>
                </a:solidFill>
              </a:rPr>
              <a:t>Visits and orders per template (tagged URLs)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926080"/>
            <a:ext cx="6675120" cy="141732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2926080"/>
            <a:ext cx="64008" cy="141732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0175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Google / Platform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8328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2A2A33"/>
                </a:solidFill>
              </a:rPr>
              <a:t>Audience tier or demographics, send time and frequency per campaign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4480560"/>
            <a:ext cx="6675120" cy="1417320"/>
          </a:xfrm>
          <a:prstGeom prst="rect">
            <a:avLst/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480560"/>
            <a:ext cx="64008" cy="141732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45720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F3043"/>
                </a:solidFill>
              </a:rPr>
              <a:t>Platform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93776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2A2A33"/>
                </a:solidFill>
              </a:rPr>
              <a:t>Failure reason codes by GoogleID and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291072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6B6B76"/>
                </a:solidFill>
              </a:rPr>
              <a:t>Source: template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Vi_Business_Internal">
  <a:themeElements>
    <a:clrScheme name="Vodafone Idea">
      <a:dk1>
        <a:srgbClr val="2F3043"/>
      </a:dk1>
      <a:lt1>
        <a:srgbClr val="FFFFFF"/>
      </a:lt1>
      <a:dk2>
        <a:srgbClr val="2F3043"/>
      </a:dk2>
      <a:lt2>
        <a:srgbClr val="E7E6E6"/>
      </a:lt2>
      <a:accent1>
        <a:srgbClr val="EE2737"/>
      </a:accent1>
      <a:accent2>
        <a:srgbClr val="FFC600"/>
      </a:accent2>
      <a:accent3>
        <a:srgbClr val="5F004B"/>
      </a:accent3>
      <a:accent4>
        <a:srgbClr val="FF8E75"/>
      </a:accent4>
      <a:accent5>
        <a:srgbClr val="CADEF8"/>
      </a:accent5>
      <a:accent6>
        <a:srgbClr val="F9E9D0"/>
      </a:accent6>
      <a:hlink>
        <a:srgbClr val="EE2737"/>
      </a:hlink>
      <a:folHlink>
        <a:srgbClr val="FFC600"/>
      </a:folHlink>
    </a:clrScheme>
    <a:fontScheme name="Vodafone Idea">
      <a:majorFont>
        <a:latin typeface="Vi Heavy"/>
        <a:ea typeface=""/>
        <a:cs typeface=""/>
      </a:majorFont>
      <a:minorFont>
        <a:latin typeface="V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i_Business_Internal" id="{398704A5-5CA6-46E2-919E-95CAA81E6807}" vid="{ACA78E08-D318-4A3A-B2E4-804830ADB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0D3C2A3672EC42AA12DF3BB1C40957" ma:contentTypeVersion="12" ma:contentTypeDescription="Create a new document." ma:contentTypeScope="" ma:versionID="272595874380e673bb435ef3c056057e">
  <xsd:schema xmlns:xsd="http://www.w3.org/2001/XMLSchema" xmlns:xs="http://www.w3.org/2001/XMLSchema" xmlns:p="http://schemas.microsoft.com/office/2006/metadata/properties" xmlns:ns3="455b43d5-a2ed-4153-8af3-2d791a2612f0" xmlns:ns4="ade549c7-991f-4915-a311-fdd39814964e" targetNamespace="http://schemas.microsoft.com/office/2006/metadata/properties" ma:root="true" ma:fieldsID="14116c70e0e4e22baedf4dd87c8e6f5b" ns3:_="" ns4:_="">
    <xsd:import namespace="455b43d5-a2ed-4153-8af3-2d791a2612f0"/>
    <xsd:import namespace="ade549c7-991f-4915-a311-fdd39814964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4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b43d5-a2ed-4153-8af3-2d791a2612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549c7-991f-4915-a311-fdd39814964e" elementFormDefault="qualified">
    <xsd:import namespace="http://schemas.microsoft.com/office/2006/documentManagement/types"/>
    <xsd:import namespace="http://schemas.microsoft.com/office/infopath/2007/PartnerControls"/>
    <xsd:element name="MigrationSourceID" ma:index="9" nillable="true" ma:displayName="MigrationSourceID" ma:internalName="MigrationSourceID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5b43d5-a2ed-4153-8af3-2d791a2612f0" xsi:nil="true"/>
  </documentManagement>
</p:properties>
</file>

<file path=customXml/itemProps1.xml><?xml version="1.0" encoding="utf-8"?>
<ds:datastoreItem xmlns:ds="http://schemas.openxmlformats.org/officeDocument/2006/customXml" ds:itemID="{A810FD4F-66A8-4077-9F16-0D6298B8BA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5b43d5-a2ed-4153-8af3-2d791a2612f0"/>
    <ds:schemaRef ds:uri="ade549c7-991f-4915-a311-fdd3981496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2CF883-793A-4B4B-9540-56D7DCDB41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1DA2B3-A4DE-4683-8D9B-19F9275ED802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ade549c7-991f-4915-a311-fdd39814964e"/>
    <ds:schemaRef ds:uri="http://purl.org/dc/elements/1.1/"/>
    <ds:schemaRef ds:uri="http://purl.org/dc/terms/"/>
    <ds:schemaRef ds:uri="http://schemas.microsoft.com/office/infopath/2007/PartnerControls"/>
    <ds:schemaRef ds:uri="455b43d5-a2ed-4153-8af3-2d791a2612f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Vi_Business_Internal</Template>
  <TotalTime>214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Vi</vt:lpstr>
      <vt:lpstr>Vi Heavy</vt:lpstr>
      <vt:lpstr>vodafone rg</vt:lpstr>
      <vt:lpstr>1_Vi_Business_Internal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Vora, Janki (COR), Vodafone Idea</dc:creator>
  <cp:lastModifiedBy>Chaturvedi, Juhi (COR), Vodafone Idea</cp:lastModifiedBy>
  <cp:revision>13</cp:revision>
  <dcterms:created xsi:type="dcterms:W3CDTF">2025-07-16T05:59:16Z</dcterms:created>
  <dcterms:modified xsi:type="dcterms:W3CDTF">2026-09-02T06:39:22Z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9e096c9-0852-429b-a5eb-0f9cc0593ec3_Enabled">
    <vt:lpwstr>true</vt:lpwstr>
  </property>
  <property fmtid="{D5CDD505-2E9C-101B-9397-08002B2CF9AE}" pid="3" name="MSIP_Label_a9e096c9-0852-429b-a5eb-0f9cc0593ec3_SetDate">
    <vt:lpwstr>2026-09-02T06:38:59Z</vt:lpwstr>
  </property>
  <property fmtid="{D5CDD505-2E9C-101B-9397-08002B2CF9AE}" pid="4" name="MSIP_Label_a9e096c9-0852-429b-a5eb-0f9cc0593ec3_Method">
    <vt:lpwstr>Privileged</vt:lpwstr>
  </property>
  <property fmtid="{D5CDD505-2E9C-101B-9397-08002B2CF9AE}" pid="5" name="MSIP_Label_a9e096c9-0852-429b-a5eb-0f9cc0593ec3_Name">
    <vt:lpwstr>C3 - Vodafone Idea Confidential</vt:lpwstr>
  </property>
  <property fmtid="{D5CDD505-2E9C-101B-9397-08002B2CF9AE}" pid="6" name="MSIP_Label_a9e096c9-0852-429b-a5eb-0f9cc0593ec3_SiteId">
    <vt:lpwstr>db1e62d4-45a5-499b-a2da-5e8e2244d24f</vt:lpwstr>
  </property>
  <property fmtid="{D5CDD505-2E9C-101B-9397-08002B2CF9AE}" pid="7" name="MSIP_Label_a9e096c9-0852-429b-a5eb-0f9cc0593ec3_ActionId">
    <vt:lpwstr>f3342c73-7305-4e92-b5e5-78b62426ec69</vt:lpwstr>
  </property>
  <property fmtid="{D5CDD505-2E9C-101B-9397-08002B2CF9AE}" pid="8" name="MSIP_Label_a9e096c9-0852-429b-a5eb-0f9cc0593ec3_ContentBits">
    <vt:lpwstr>5</vt:lpwstr>
  </property>
  <property fmtid="{D5CDD505-2E9C-101B-9397-08002B2CF9AE}" pid="9" name="MSIP_Label_a9e096c9-0852-429b-a5eb-0f9cc0593ec3_Tag">
    <vt:lpwstr>10, 0, 1, 1</vt:lpwstr>
  </property>
  <property fmtid="{D5CDD505-2E9C-101B-9397-08002B2CF9AE}" pid="10" name="ClassificationContentMarkingHeaderLocations">
    <vt:lpwstr>1_Vi_Business_Internal:4</vt:lpwstr>
  </property>
  <property fmtid="{D5CDD505-2E9C-101B-9397-08002B2CF9AE}" pid="11" name="ClassificationContentMarkingHeaderText">
    <vt:lpwstr>Vodafone Idea Confidential</vt:lpwstr>
  </property>
  <property fmtid="{D5CDD505-2E9C-101B-9397-08002B2CF9AE}" pid="12" name="ClassificationWatermarkLocations">
    <vt:lpwstr>1_Vi_Business_Internal:7</vt:lpwstr>
  </property>
  <property fmtid="{D5CDD505-2E9C-101B-9397-08002B2CF9AE}" pid="13" name="ClassificationWatermarkText">
    <vt:lpwstr>CONFIDENTIAL</vt:lpwstr>
  </property>
  <property fmtid="{D5CDD505-2E9C-101B-9397-08002B2CF9AE}" pid="14" name="ContentTypeId">
    <vt:lpwstr>0x010100E80D3C2A3672EC42AA12DF3BB1C40957</vt:lpwstr>
  </property>
</Properties>
</file>